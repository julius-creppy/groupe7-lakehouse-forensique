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-24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détection (%)</c:v>
                </c:pt>
              </c:strCache>
            </c:strRef>
          </c:tx>
          <c:spPr>
            <a:solidFill>
              <a:srgbClr val="1F6FD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C2D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Horaire
inhabituel</c:v>
                </c:pt>
                <c:pt idx="1">
                  <c:v>Machines
distinctes</c:v>
                </c:pt>
                <c:pt idx="2">
                  <c:v>Paire
rare</c:v>
                </c:pt>
                <c:pt idx="3">
                  <c:v>Combiné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4.2300000000000004</c:v>
                </c:pt>
                <c:pt idx="1">
                  <c:v>90.73</c:v>
                </c:pt>
                <c:pt idx="2">
                  <c:v>0</c:v>
                </c:pt>
                <c:pt idx="3">
                  <c:v>91.63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F-46C3-B902-82F3C784CF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E33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8EE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F6FD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4C9AE8">
              <a:alpha val="1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C9AE8"/>
                </a:solidFill>
              </a:rPr>
              <a:t>GROUPE 7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Lakehouse pour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forensique numérique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C"/>
                </a:solidFill>
              </a:rPr>
              <a:t>Du stockage brut à la détection d'anomalies : AWS S3, DuckDB, Parquet, 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3949" y="5292671"/>
            <a:ext cx="2834640" cy="54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9AE8"/>
                </a:solidFill>
              </a:rPr>
              <a:t>Cycle </a:t>
            </a:r>
            <a:r>
              <a:rPr lang="en-US" sz="1200" dirty="0" err="1">
                <a:solidFill>
                  <a:srgbClr val="4C9AE8"/>
                </a:solidFill>
              </a:rPr>
              <a:t>Ingénieur</a:t>
            </a:r>
            <a:r>
              <a:rPr lang="en-US" sz="1200" dirty="0">
                <a:solidFill>
                  <a:srgbClr val="4C9AE8"/>
                </a:solidFill>
              </a:rPr>
              <a:t> </a:t>
            </a:r>
            <a:r>
              <a:rPr lang="en-US" sz="1200" dirty="0" err="1">
                <a:solidFill>
                  <a:srgbClr val="4C9AE8"/>
                </a:solidFill>
              </a:rPr>
              <a:t>Cybersécurité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46E1AC7-DE0D-7A39-653F-2565AB582372}"/>
              </a:ext>
            </a:extLst>
          </p:cNvPr>
          <p:cNvSpPr/>
          <p:nvPr/>
        </p:nvSpPr>
        <p:spPr>
          <a:xfrm>
            <a:off x="9673230" y="5120639"/>
            <a:ext cx="4062179" cy="1426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 err="1">
                <a:solidFill>
                  <a:srgbClr val="4C9AE8"/>
                </a:solidFill>
              </a:rPr>
              <a:t>Présentateurs</a:t>
            </a:r>
            <a:endParaRPr lang="en-US" sz="1400" b="1" u="sng" dirty="0">
              <a:solidFill>
                <a:srgbClr val="4C9AE8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4C9AE8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4C9AE8"/>
                </a:solidFill>
              </a:rPr>
              <a:t>AMON Anne-</a:t>
            </a:r>
            <a:r>
              <a:rPr lang="en-US" sz="1200" dirty="0" err="1">
                <a:solidFill>
                  <a:srgbClr val="4C9AE8"/>
                </a:solidFill>
              </a:rPr>
              <a:t>emmanuela</a:t>
            </a:r>
            <a:endParaRPr lang="en-US" sz="1200" dirty="0">
              <a:solidFill>
                <a:srgbClr val="4C9AE8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4C9AE8"/>
                </a:solidFill>
              </a:rPr>
              <a:t>CAPO Sabrina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4C9AE8"/>
                </a:solidFill>
              </a:rPr>
              <a:t>CREPPY Justus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F6FD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Construire une architecture Lakehouse sur AWS S3 pour stocker et </a:t>
            </a:r>
            <a:r>
              <a:rPr lang="en-US" sz="1700" b="1" dirty="0" err="1">
                <a:solidFill>
                  <a:srgbClr val="FFFFFF"/>
                </a:solidFill>
              </a:rPr>
              <a:t>analyser</a:t>
            </a:r>
            <a:r>
              <a:rPr lang="en-US" sz="1700" b="1" dirty="0">
                <a:solidFill>
                  <a:srgbClr val="FFFFFF"/>
                </a:solidFill>
              </a:rPr>
              <a:t> plus d'1 milliard de logs d'authentification réels, avec DuckDB comme moteur SQL, et livrer un dashboard Power BI capable de détecter des anomalies de sécurité.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8F1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Objectif technique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3291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E33"/>
                </a:solidFill>
              </a:rPr>
              <a:t>Pipeline Bronze → Silver → Gold, opérationnel de bout en bout sur S3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8F1F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Objectif analytique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4297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E33"/>
                </a:solidFill>
              </a:rPr>
              <a:t>Analyser des connexions à partir de vrais indicateurs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8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303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Contrainte du sujet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5303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E33"/>
                </a:solidFill>
              </a:rPr>
              <a:t>DuckDB est obligatoire pour interroger les données directement sur S3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Lake, Data Warehouse, Lakehouse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</a:rPr>
              <a:t>Data Lake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E33"/>
                </a:solidFill>
              </a:rPr>
              <a:t>Stockage de données brutes, telles qu'elles arrivent, sans transformation. Préserve la source d'origine intacte — essentiel pour la valeur de preuve légale.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463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00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</a:rPr>
              <a:t>Data Warehouse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96596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E33"/>
                </a:solidFill>
              </a:rPr>
              <a:t>Données déjà nettoyées et structurées, prêtes pour le SQL. Rapide à </a:t>
            </a:r>
            <a:r>
              <a:rPr lang="en-US" sz="1150" dirty="0" err="1">
                <a:solidFill>
                  <a:srgbClr val="0B1E33"/>
                </a:solidFill>
              </a:rPr>
              <a:t>analyser</a:t>
            </a:r>
            <a:r>
              <a:rPr lang="en-US" sz="1150" dirty="0">
                <a:solidFill>
                  <a:srgbClr val="0B1E33"/>
                </a:solidFill>
              </a:rPr>
              <a:t>, mais la trace brute d'origine est perdue.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600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</a:rPr>
              <a:t>Lakehouse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196596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E33"/>
                </a:solidFill>
              </a:rPr>
              <a:t>Le compromis : données brutes conservées (Bronze) + </a:t>
            </a:r>
            <a:r>
              <a:rPr lang="en-US" sz="1150" dirty="0" err="1">
                <a:solidFill>
                  <a:srgbClr val="0B1E33"/>
                </a:solidFill>
              </a:rPr>
              <a:t>Données</a:t>
            </a:r>
            <a:r>
              <a:rPr lang="en-US" sz="1150" dirty="0">
                <a:solidFill>
                  <a:srgbClr val="0B1E33"/>
                </a:solidFill>
              </a:rPr>
              <a:t> nettoyées et interrogeables (Silver, Gold). C'est notre architecture.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0C2D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9AE8"/>
                </a:solidFill>
              </a:rPr>
              <a:t>Notre architecture en 3 zones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BRONZE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C"/>
                </a:solidFill>
              </a:rPr>
              <a:t>Brut, intact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SILVER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C"/>
                </a:solidFill>
              </a:rPr>
              <a:t>Nettoyé, typé, Parquet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C"/>
                </a:solidFill>
              </a:rPr>
              <a:t>Agrégé, prêt à l'analyse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forensique numérique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E33"/>
                </a:solidFill>
              </a:rPr>
              <a:t>L'analyse de traces informatiques (logs, connexions, accès) après un incident de sécurité, pour reconstituer les événements et identifier ce qui s'est passé.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D5C"/>
                </a:solidFill>
              </a:rPr>
              <a:t>Pourquoi ça impose des contraintes précises à notre architecture 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Les données brutes (Bronze) ne doivent jamais être modifiées — elles doivent pouvoir servir de preuve non altérée.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L'analyse doit pouvoir remonter à des motifs précis : horaires, machines, comptes impliqués.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complet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D5C"/>
                </a:solidFill>
              </a:rPr>
              <a:t>BRONZE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Données brutes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intactes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D1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E8F1F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D5C"/>
                </a:solidFill>
              </a:rPr>
              <a:t>SILVER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Nettoyées,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typées, Parquet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D1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E8F1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D5C"/>
                </a:solidFill>
              </a:rPr>
              <a:t>GOLD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tables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agrégées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2651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D1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4C9AE8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D5C"/>
                </a:solidFill>
              </a:rPr>
              <a:t>POWER BI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0684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Dashboard,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E33"/>
                </a:solidFill>
              </a:rPr>
              <a:t>6 visuels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6FD1"/>
                </a:solidFill>
              </a:rPr>
              <a:t>connexion directe S3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C2D5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9AE8"/>
                </a:solidFill>
              </a:rPr>
              <a:t>Le fil conducteur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À chaque étape, un ou plusieurs outils précis résolvent un problème concret : trop de volume pour la RAM (DuckDB), trop lent en CSV (Parquet), trop coûteux à héberger soi-même (S3). Les diapositives suivantes détaillent chaque choix.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— STOCKAGE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</a:rPr>
              <a:t>Amazon Simple Storage Service — support physique du Lakehouse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C2D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9AE8"/>
                </a:solidFill>
              </a:rPr>
              <a:t>Pourquoi cet outil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Stocker des volumes de plusieurs Go à plusieurs To, accessibles depuis n'importe où, sans gérer de serveur physique.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Pas de limite pratique de volume : nos 3 zones (Bronze, Silver, Gold) cohabitent sans souci d'espace disque local.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0873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593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Accessible en HTTP/HTTPS standard — DuckDB et Power BI peuvent tous deux lire directement dedans.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0017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8737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Organisation simple en dossiers (bronze/, silver/, gold/) qui reflète naturellement l'architecture Lakehouse.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9161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7881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Coût quasi nul pour ce volume grâce aux crédits AWS étudiants, avec facturation à l'usage réel.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— TRAITEMENT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</a:rPr>
              <a:t>Moteur SQL léger, sans serveur à installer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C2D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9AE8"/>
                </a:solidFill>
              </a:rPr>
              <a:t>Pourquoi cet outil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Le fichier brut décompressé pèse 40 à 75 Go — impossible à charger entièrement en RAM sur un PC étudiant standard.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Lit les fichiers Parquet directement sur S3, par morceaux, sans jamais tout télécharger ni tout charger en mémoire.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0873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593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Utilise du SQL classique (SELECT, GROUP BY, JOIN) — aucune nouvelle syntaxe complexe à apprendre.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0017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8737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Rend possible le traitement d'1,05 milliard de lignes sur un simple ordinateur portable, sans cluster ni serveur dédié.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9161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7881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Obligatoire pour ce projet précisément parce qu'il est le seul outil qui rend le volume gérable à cette échelle.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—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format Parquet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</a:rPr>
              <a:t>Utilisé pour les zones Silver et Gold (Bronze reste dans son format brut d'origine, par principe de préservation)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BEAF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3556"/>
                </a:solidFill>
              </a:rPr>
              <a:t>CSV (ce qu'on évite)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✕  Texte brut, ligne par ligne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✕  Aucun typage : tout est relu comme du texte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✕  Compression faible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✕  Lecture obligée de tout le fichier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E6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A5F"/>
                </a:solidFill>
              </a:rPr>
              <a:t>Parquet (notre choix)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✓  Stockage en colonnes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✓  Types conservés (entier, booléen...)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✓  Forte compression (ZSTD)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✓  Lecture sélective des colonnes utiles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C2D5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9AE8"/>
                </a:solidFill>
              </a:rPr>
              <a:t>Avantage concret pour Power BI et le traitement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Silver (7,35 Go) reste quasi de la même taille que Bronze compressé (7,6 Go) malgré l'ajout de colonnes — grâce à la compression. Et Power BI ne télécharge que les colonnes réellement utilisées dans chaque visuel, au lieu de charger tout le fichier.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— RESTITUTION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</a:rPr>
              <a:t>Connexion directe aux données Gold sur S3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C2D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9AE8"/>
                </a:solidFill>
              </a:rPr>
              <a:t>Pourquoi cet outil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Rester fidèle à l'architecture Lakehouse : pas d'export intermédiaire, les données restent sur S3 même pour la visualisation.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Connexion via URL pré-signées et Power Query (langage M) : Web.Contents + Binary.Buffer + Parquet.Document.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0873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593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Chaque table Gold est lue directement depuis S3 — aucune copie locale permanente des données.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0017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8737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Les visuels se rafraîchissent depuis la source dès que les données Gold changent (tant que l'URL reste valide).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916168"/>
            <a:ext cx="365760" cy="36576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7881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Cohérent avec le principe du sujet : DuckDB traite sur S3, Power BI restitue depuis S3 — la même philosophie de bout en bout.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dataset LANL Cybersecurity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</a:rPr>
              <a:t>Los Alamos National Laboratory — logs réels d'un réseau d'entreprise, 58 jours, collectés sur l'ensemble du parc informatique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Fichier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Volume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auth.txt.gz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Logs d'authentification (9 colonnes)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1 051 430 459 lignes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redteam.txt.gz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Attaques connues (vérité terrain)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992 événements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918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4 identités par ligne : qui se connecte (source), depuis où, vers quel compte (destination), sur quelle machine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1,C625$@DOM1,U147@DOM1,C625,C625,Negotiate,Batch,LogOn,Success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</a:rPr>
              <a:t>C625$ = compte machine (authentification système/automatique) — U22, ANONYMOUS LOGON = comptes utilisateurs ou système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Silver — corrections appliquées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Valeurs manquantes ("?")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6276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Conversion en NULL avec NULLIF()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420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authentication_type tronqué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5420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Regroupement des variantes par préfixe commun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56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destination_computer mélangé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34564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Nouvelle colonne categorie_destination : machine, ticket Kerberos, identifiant utilisateur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8F1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0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Temps en secondes brutes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43708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Nouvelle colonne heure_du_jour = (temps modulo 86400) / 3600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Gold — 8 tables, 8 questions forensiques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70332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connexions_par_utilisateur_heure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Profil horaire habituel de chaque utilisateur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activite_par_machine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Machines les plus sollicitées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anomalies_horaires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Connexions hors horaires habituels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taux_echec_par_utilisateur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Comptes à taux d'échec élevé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machines_distinctes_par_utilisateur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Diversité des machines accédées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volume_par_jour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Évolution temporelle globale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paires_rares_utilisateur_machine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Connexions uniques dans le dataset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comparaison_criteres_detection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Validation contre les vraies attaques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critère détecte le mieux les vraies attaques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</a:rPr>
              <a:t>Validation contre les 992 attaques connues (redteam.txt.gz) — correspondance exacte utilisateur + machine + horodatage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828800"/>
          <a:ext cx="10515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Power BI — 6 visualisations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Top 10 machines les plus accédées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Évolution du volume dans le temps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Top 10 utilisateurs les plus actifs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32918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Activité par heure de la journée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Efficacité des critères de détection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45720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8F1FC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709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E8"/>
                </a:solidFill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D5C"/>
                </a:solidFill>
              </a:rPr>
              <a:t>Relation utilisateur-machine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 et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1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Blocage réseau vers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77840" y="16916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Contournement via VPN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1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Traitement anormalement lent (99% bloqué)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27889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CREATE VIEW plutôt que CREATE TABLE : évite une écriture inutile de 40-75 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86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Espace disque insuffisant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38862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Export direct compressé (ZSTD), sans table intermédiaire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1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83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D5C"/>
                </a:solidFill>
              </a:rPr>
              <a:t>Fichier Gold trop volumineux (1,2 Go)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49834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</a:rPr>
              <a:t>→  Réduction du regroupement et limitation des résultats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F6FD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784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C"/>
                </a:solidFill>
              </a:rPr>
              <a:t>Une architecture Lakehouse complète et fonctionnelle, du stockage brut jusqu'à la visualisation.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F1FC"/>
                </a:solidFill>
              </a:rPr>
              <a:t>Chaque outil (S3, DuckDB, Parquet, Power BI) a résolu un problème concret de volume, de vitesse ou de fidélité aux données brutes.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F1FC"/>
                </a:solidFill>
              </a:rPr>
              <a:t>Une validation empirique, pas une hypothèse : la diversité des machines accédées détecte 90,73% des attaques, contre 4,23% pour l'horaire seul.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Merci de votre attention.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1429</Words>
  <Application>Microsoft Office PowerPoint</Application>
  <PresentationFormat>Grand écran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julius CREPPY</cp:lastModifiedBy>
  <cp:revision>8</cp:revision>
  <dcterms:created xsi:type="dcterms:W3CDTF">2026-08-07T21:24:00Z</dcterms:created>
  <dcterms:modified xsi:type="dcterms:W3CDTF">2026-08-08T17:10:45Z</dcterms:modified>
</cp:coreProperties>
</file>